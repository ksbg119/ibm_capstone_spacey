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Success Rate (%) by Orbit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ES-L1</c:v>
                  </c:pt>
                  <c:pt idx="1">
                    <c:v>SSO</c:v>
                  </c:pt>
                  <c:pt idx="2">
                    <c:v>HEO</c:v>
                  </c:pt>
                  <c:pt idx="3">
                    <c:v>VLEO</c:v>
                  </c:pt>
                  <c:pt idx="4">
                    <c:v>MEO</c:v>
                  </c:pt>
                  <c:pt idx="5">
                    <c:v>LEO</c:v>
                  </c:pt>
                  <c:pt idx="6">
                    <c:v>PO</c:v>
                  </c:pt>
                  <c:pt idx="7">
                    <c:v>ISS</c:v>
                  </c:pt>
                  <c:pt idx="8">
                    <c:v>GTO</c:v>
                  </c:pt>
                  <c:pt idx="9">
                    <c:v>GEO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77</c:v>
                </c:pt>
                <c:pt idx="6">
                  <c:v>67</c:v>
                </c:pt>
                <c:pt idx="7">
                  <c:v>77</c:v>
                </c:pt>
                <c:pt idx="8">
                  <c:v>50</c:v>
                </c:pt>
                <c:pt idx="9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Falcon 9 Launches Per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Launches</c:v>
                </c:pt>
              </c:strCache>
            </c:strRef>
          </c:tx>
          <c:spPr>
            <a:solidFill>
              <a:srgbClr val="0077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18</c:v>
                </c:pt>
                <c:pt idx="8">
                  <c:v>21</c:v>
                </c:pt>
                <c:pt idx="9">
                  <c:v>13</c:v>
                </c:pt>
                <c:pt idx="10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Annual Success Rate Trend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 %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2010</c:v>
                  </c:pt>
                  <c:pt idx="1">
                    <c:v>2011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</c:v>
                </c:pt>
                <c:pt idx="4">
                  <c:v>43</c:v>
                </c:pt>
                <c:pt idx="5">
                  <c:v>38</c:v>
                </c:pt>
                <c:pt idx="6">
                  <c:v>78</c:v>
                </c:pt>
                <c:pt idx="7">
                  <c:v>80</c:v>
                </c:pt>
                <c:pt idx="8">
                  <c:v>92</c:v>
                </c:pt>
                <c:pt idx="9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Landing Outcome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bubble3D val="0"/>
            <c:spPr>
              <a:solidFill>
                <a:srgbClr val="ADE8F4"/>
              </a:solidFill>
              <a:effectLst/>
            </c:spPr>
          </c:dPt>
          <c:dPt>
            <c:idx val="3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bubble3D val="0"/>
            <c:spPr>
              <a:solidFill>
                <a:srgbClr val="FF9A3C"/>
              </a:solidFill>
              <a:effectLst/>
            </c:spPr>
          </c:dPt>
          <c:dPt>
            <c:idx val="5"/>
            <c:bubble3D val="0"/>
            <c:spPr>
              <a:solidFill>
                <a:srgbClr val="C0C0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True ASDS</c:v>
                </c:pt>
                <c:pt idx="1">
                  <c:v>True RTLS</c:v>
                </c:pt>
                <c:pt idx="2">
                  <c:v>True Ocean</c:v>
                </c:pt>
                <c:pt idx="3">
                  <c:v>False ASDS</c:v>
                </c:pt>
                <c:pt idx="4">
                  <c:v>False RTLS</c:v>
                </c:pt>
                <c:pt idx="5">
                  <c:v>No Attempt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41</c:v>
                </c:pt>
                <c:pt idx="1">
                  <c:v>14</c:v>
                </c:pt>
                <c:pt idx="2">
                  <c:v>3</c:v>
                </c:pt>
                <c:pt idx="3">
                  <c:v>6</c:v>
                </c:pt>
                <c:pt idx="4">
                  <c:v>1</c:v>
                </c:pt>
                <c:pt idx="5">
                  <c:v>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Test Accuracy by Model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DE8F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4F8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Decision Tree</c:v>
                  </c:pt>
                  <c:pt idx="1">
                    <c:v>SVM (RBF)</c:v>
                  </c:pt>
                  <c:pt idx="2">
                    <c:v>K-Nearest Neighbors</c:v>
                  </c:pt>
                  <c:pt idx="3">
                    <c:v>Logistic Regression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</c:v>
                </c:pt>
                <c:pt idx="1">
                  <c:v>83.3</c:v>
                </c:pt>
                <c:pt idx="2">
                  <c:v>77.8</c:v>
                </c:pt>
                <c:pt idx="3">
                  <c:v>83.3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2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39804" cy="39804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005840"/>
            <a:ext cx="40641" cy="40641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457200"/>
            <a:ext cx="35256" cy="35256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82880"/>
            <a:ext cx="43667" cy="43667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914400"/>
            <a:ext cx="50768" cy="50768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65760"/>
            <a:ext cx="52515" cy="52515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731520"/>
            <a:ext cx="51554" cy="51554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274320"/>
            <a:ext cx="35705" cy="35705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43534" cy="43534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286000"/>
            <a:ext cx="52330" cy="52330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828800"/>
            <a:ext cx="52150" cy="52150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45920"/>
            <a:ext cx="34877" cy="34877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114800"/>
            <a:ext cx="33249" cy="33249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3657600"/>
            <a:ext cx="39516" cy="39516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4389120"/>
            <a:ext cx="45199" cy="45199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840480"/>
            <a:ext cx="33895" cy="33895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4663440"/>
            <a:ext cx="37959" cy="37959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4846320"/>
            <a:ext cx="40169" cy="40169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4572000"/>
            <a:ext cx="37029" cy="37029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0" y="4754880"/>
            <a:ext cx="33778" cy="33778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4663440"/>
            <a:ext cx="42922" cy="42922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926080"/>
            <a:ext cx="47713" cy="47713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3200400"/>
            <a:ext cx="52545" cy="52545"/>
          </a:xfrm>
          <a:prstGeom prst="ellipse">
            <a:avLst/>
          </a:prstGeom>
          <a:solidFill>
            <a:srgbClr val="ADE8F4">
              <a:alpha val="60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7315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Falcon 9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Stage Landing Prediction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3200400" y="214884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468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 •  Capstone Project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|  EDA  |  Machine Learning  |  Visual Analytics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Analyzed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33472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633472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9744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809744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86016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86016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Phases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Predict whether SpaceX Falcon 9 first stage will successfully land to estimate launch cost savings (~$62M per reuse)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0200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193852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REST API + Wikipedia web scraping → 90 launches with 18 features each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600200"/>
            <a:ext cx="4114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00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193852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bar, line charts via Matplotlib/Seaborn to identify launch site &amp; orbit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411480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35584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 maps for geospatial insight; Plotly Dash for live filtering &amp; drill-down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17520"/>
            <a:ext cx="411480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355848"/>
            <a:ext cx="38953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Reg., SVM, Decision Tree, KNN — best accuracy ~83% (Decision Tree / SVM)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E0F7F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Result: KSC LC-39A achieves highest success rate; Polar &amp; ISS orbits consistently succeed; payloads &lt; 4,000 kg yield better outcomes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Background &amp; Problem 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397764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252728"/>
            <a:ext cx="375818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disrupted the launch market by pioneering reusable rockets. The Falcon 9 first stage is designed to autonomously return to Earth after delivering payload to orbit — a feat with enormous cost implications.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3977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880360"/>
            <a:ext cx="39776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80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3218688"/>
            <a:ext cx="37581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launch providers quote ~$165M per Falcon 9 flight. With reuse, SpaceX charges as little as $62M. Can a company predict if the first stage will land, and use that to estimate a competing bid price?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914400"/>
            <a:ext cx="4343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914400"/>
            <a:ext cx="434340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14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10912" y="1371600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launch sites have the highest success rates?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93852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10912" y="193852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payload mass range correlates with successful landings?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50545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10912" y="2505456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orbit type influence landing outcome?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7238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10912" y="3072384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success rate trended over time (2010–2020)?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63931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3639312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predict landing success with ≥ 80% accuracy?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SpaceX REST API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536192" cy="105156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241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api.spacexdata.com/v4/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10512" y="141732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960120"/>
            <a:ext cx="1536192" cy="1051560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0241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/launches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15270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launches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9584" y="141732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2464" y="960120"/>
            <a:ext cx="1536192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58184" y="10241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58184" y="15270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Booster, Payload, Site, Outcome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48656" y="141732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960120"/>
            <a:ext cx="1536192" cy="10515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0241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77256" y="15270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normalize JSON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67728" y="141732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960120"/>
            <a:ext cx="1536192" cy="105156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96328" y="1024128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dataset_part1.csv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96328" y="15270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rows × 18 features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240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Extracted from API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63347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93192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FlightNumber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launch 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263347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42032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42032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datetime (UTC)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63347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90872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BoosterVersion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90872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9 variant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2633472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39712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39712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to orbit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3118104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93192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3192" y="3319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orbit type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468880" y="3118104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42032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LaunchSite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42032" y="3319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CCAFS, VAFB, KSC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118104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90872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90872" y="3319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result code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66560" y="3118104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839712" y="3136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39712" y="3319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booster flights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360273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93192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GridFins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93192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fins used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68880" y="360273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542032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542032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previously flown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360273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690872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90872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legs deployed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66560" y="3602736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E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839712" y="36210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LandingPad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39712" y="38039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OCISLY / LZ-1 / JRTI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/notebooks/spacex-data-collection-api.ipynb  |  Notebook uses requests, pandas, json_normalize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Web Scraping (Wikipedia)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402336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Workflow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3441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URL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517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Wikipedia: List of Falcon 9 &amp; Falcon Heavy launches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17830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1956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raw HTML page content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22219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HTML, locate &lt;table&gt; tags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" y="2660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find_all('th')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28346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column headers from wikitable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45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30998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rows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32735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&lt;tr&gt; tags → extract &lt;td&gt; cell values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3538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pd.DataFrame()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3712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into structured tabular format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914400"/>
            <a:ext cx="4297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26280" y="914400"/>
            <a:ext cx="429768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13167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Flight Number &amp; Version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15910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Launch Site (pad name)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18653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Payload &amp; Customer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21396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Orbit and Mission Outcome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24140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Booster Landing Result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26883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Date and Booster Serial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26280" y="3108960"/>
            <a:ext cx="4297680" cy="96012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1772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3429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 •  BeautifulSoup4  •  pandas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unicodedcsv  •  re  •  sys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/notebooks/spacex-webscraping.ipynb  |  Output: spacex_web_scraped_data.csv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594360" cy="84124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1440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96926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6187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PayloadMass had 5 nulls → imputed with column mean. LandingPad had 26 nulls (not applicable for ocean landings) → retained as 'None'.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74520"/>
            <a:ext cx="594360" cy="84124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7452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192938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Landing Outcomes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22199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column contained verbose strings (e.g., 'True Ocean'). Mapped to binary: 1 = successful landing, 0 = failure/no-attempt.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34640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83464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88950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18211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 from Date column for trend analysis. Encoded categorical columns (Orbit, LaunchSite, LandingPad) via one-hot encoding for ML.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94760"/>
            <a:ext cx="594360" cy="8412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9476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8496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Clean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14223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only Falcon 9 launches (excluded Falcon Heavy). Standardized LaunchSite codes to match across API and scraped datasets.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dataset — 90 rows × 83 columns (post one-hot encoding)  |  Class label: Class (0 or 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Visualization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87552"/>
            <a:ext cx="594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875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097280" y="98755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987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Flight Number vs Launch Site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6276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sites became more active over time; CCAFS dominates early flights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87552"/>
            <a:ext cx="594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9875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931920" y="98755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987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4612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vs Launch Site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6276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payload mass distribution per site — KSC handles heaviest payloads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9320" y="91440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987552"/>
            <a:ext cx="594360" cy="20116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98755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0" y="98755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9875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12344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Success Rate by Orbit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6276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success across orbit types — ES-L1, SSO, HEO have 100% success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697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2770632"/>
            <a:ext cx="594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770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97280" y="277063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2770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Flight # vs Outcome by Orbit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4107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success improves sharply post-flight 20; GTO remains variable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154680" y="2697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46120" y="2770632"/>
            <a:ext cx="594360" cy="20116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2770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31920" y="277063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2770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46120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Line: Annual Success Rate Trend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4107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climbs from ~25% (2013) to ~100% (2019–2020)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9320" y="269748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2770632"/>
            <a:ext cx="59436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770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66560" y="2770632"/>
            <a:ext cx="685800" cy="201168"/>
          </a:xfrm>
          <a:prstGeom prst="rect">
            <a:avLst/>
          </a:prstGeom>
          <a:solidFill>
            <a:srgbClr val="E8F4FD"/>
          </a:solidFill>
          <a:ln w="12700">
            <a:solidFill>
              <a:srgbClr val="C5E0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27706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80760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Payload vs Outcome (colored)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80760" y="34107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&lt; 4,000 kg have higher success ratio across all sites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526280"/>
            <a:ext cx="8503920" cy="29260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4526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/notebooks/spacex-eda-visualization.ipynb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416052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914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List all unique launch sites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2252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launch_site FROM SPACEXTBL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416052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914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Payload &lt; 10,000 kg at CCAFS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2252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launch_site LIKE 'CCA%' AND PAYLOAD_MASS__KG_ &lt; 10000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1051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10512"/>
            <a:ext cx="416052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1810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Total successful mission count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1214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Mission_Outcome LIKE '%Success%'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81051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10512"/>
            <a:ext cx="416052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81051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Heaviest &amp; lightest payloads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121408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MAX(PAYLOAD_MASS__KG_) … MIN(PAYLOAD_MASS__KG_)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7066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06624"/>
            <a:ext cx="416052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706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Failure count by booster version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017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Landing__Outcome = 'Failure' GROUP BY Booster_Version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7066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706624"/>
            <a:ext cx="416052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7066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Rank boosters by landing success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017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… RANK() OVER(ORDER BY landing_outcome DESC)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60520" cy="29260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" y="36027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Successes in 2010–2017 window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'2010-06-04' AND '2017-03-20' AND Landing__Outcome = 'Success'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60273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02736"/>
            <a:ext cx="4160520" cy="29260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6027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Sites with 100% success 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3913632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launch_site HAVING COUNT(*) = SUM(success)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553712"/>
            <a:ext cx="8503920" cy="3474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5537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/notebooks/spacex-sql.ipynb  |  Tool: ibm_db_sa / SQLite + Jupyter SQL magic (%sql, %%sql)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Analytics — Folium &amp; Plotly Dash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4114800" cy="3200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Folium — Geospatial 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 Markers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markers at CCAFS LC-40, KSC LC-39A, VAFB SLC-4E, CCAFS SLC-40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Outcomes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success, Red = failure; popup shows site name &amp; coordinates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drawn to nearest city, railway, highway, and coastline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83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MarkerCluster groups dense overlapping points for cleaner zoom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1148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14400"/>
            <a:ext cx="4114800" cy="320040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Plotly Dash — Interactive 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Launch Site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572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 or individual site filter for pie chart of success/failure counts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vs. failure distribution auto-updates per selected site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27706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Slider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9992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Payload Mass (0 – 10,000 kg) in real 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483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712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Mass vs. Outcome, color-coded by Booster Version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/notebooks/spacex-folium.ipynb  •  /app/spacex-dash-app.py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1440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91440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320040" y="3200400"/>
          <a:ext cx="4206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Chart 3" descr=""/>
          <p:cNvGraphicFramePr/>
          <p:nvPr/>
        </p:nvGraphicFramePr>
        <p:xfrm>
          <a:off x="4709160" y="3200400"/>
          <a:ext cx="420624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with SQL — Key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7772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1615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sites: CCAFS LC-40 (most launches), KSC LC-39A, VAFB SLC-4E, CCAFS SLC-40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54864" cy="777240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9601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CCAFS Payload Range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21615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at CCAFS ranged from 1,962 kg (min) to 9,600 kg (max); avg ~5,037 kg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7830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8308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288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Missions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08483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successful mission outcomes recorded when filtering on 'Success' in outcome field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78308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783080"/>
            <a:ext cx="54864" cy="7772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8288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Payload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08483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CRS missions to ISS carried the heaviest payloads in booster reuse configuration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517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651760"/>
            <a:ext cx="54864" cy="777240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97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(2015)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295351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v1.1 B1012 &amp; B1015 had drone-ship landing failures; F9 FT had earliest GTO failure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51760"/>
            <a:ext cx="54864" cy="777240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974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 Sites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95351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achieved the highest single-site success rate among high-volume launch pads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5204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52044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661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2010–2017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82219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successful drone-ship landings occurred between 2010-06-04 and 2017-03-20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5204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520440"/>
            <a:ext cx="54864" cy="7772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5661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Booster by Rank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822192"/>
            <a:ext cx="3886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2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B5 (Block 5) ranked #1 by landing success rate; consistent across ASDS and RTLS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53712"/>
            <a:ext cx="8503920" cy="29260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GitHub: /notebooks/spacex-sql.ipynb  |  Database: SpaceX SQLite / DB2  |  Queries: 10 analytical SQL statements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732520" y="4526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0" y="4526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1440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94960" y="914400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9326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0" y="9326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accuracy: 83.3% achieved by Decision Tree, SVM, and Logistic Regression on test 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1664208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0680" y="16824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852160" y="168249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used for hyperparameter tuning; 10-fold cross-validation applied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2414016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40680" y="24323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852160" y="24323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normalized features before training; SMOTE not required (balanced)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94960" y="3163824"/>
            <a:ext cx="3429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40680" y="31821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52160" y="31821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(max_depth=8) selected as final model for interpretability + accuracy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4023360"/>
            <a:ext cx="2011680" cy="84124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20040" y="4059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320040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Accuracy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478024" y="4023360"/>
            <a:ext cx="2011680" cy="84124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478024" y="4059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2478024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36008" y="4023360"/>
            <a:ext cx="2011680" cy="841248"/>
          </a:xfrm>
          <a:prstGeom prst="rect">
            <a:avLst/>
          </a:prstGeom>
          <a:solidFill>
            <a:srgbClr val="0B1A2E"/>
          </a:solidFill>
          <a:ln w="12700">
            <a:solidFill>
              <a:srgbClr val="0B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36008" y="4059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4636008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793992" y="4023360"/>
            <a:ext cx="2011680" cy="841248"/>
          </a:xfrm>
          <a:prstGeom prst="rect">
            <a:avLst/>
          </a:prstGeom>
          <a:solidFill>
            <a:srgbClr val="1C4F82"/>
          </a:solidFill>
          <a:ln w="12700">
            <a:solidFill>
              <a:srgbClr val="1C4F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793992" y="4059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6793992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7315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18288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54864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2743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09728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3891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384048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448056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411480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365760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74320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82880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5603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3017520"/>
            <a:ext cx="36576" cy="36576"/>
          </a:xfrm>
          <a:prstGeom prst="ellipse">
            <a:avLst/>
          </a:prstGeom>
          <a:solidFill>
            <a:srgbClr val="ADE8F4">
              <a:alpha val="65000"/>
            </a:srgbClr>
          </a:solidFill>
          <a:ln w="12700">
            <a:solidFill>
              <a:srgbClr val="AD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&amp; Links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3200400" y="749808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960120"/>
            <a:ext cx="841248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960120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960120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showed clear improvement in landing success over years, from ~0% in 2013 to 100% by 2020.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527048"/>
            <a:ext cx="841248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527048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527048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KSC LC-39A is the highest-performing launch site; ES-L1, SSO, and HEO orbits have 100% success.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093976"/>
            <a:ext cx="841248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093976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093976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under 4,000 kg have significantly better landing outcomes across all sites.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2660904"/>
            <a:ext cx="8412480" cy="493776"/>
          </a:xfrm>
          <a:prstGeom prst="rect">
            <a:avLst/>
          </a:prstGeom>
          <a:solidFill>
            <a:srgbClr val="112240"/>
          </a:solidFill>
          <a:ln w="12700">
            <a:solidFill>
              <a:srgbClr val="1C3A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660904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660904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ML models achieved 83.3% accuracy; Decision Tree is recommended for interpretability.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291840"/>
            <a:ext cx="8412480" cy="1444752"/>
          </a:xfrm>
          <a:prstGeom prst="rect">
            <a:avLst/>
          </a:prstGeom>
          <a:solidFill>
            <a:srgbClr val="060F1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364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Submission Links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pPr indent="0" marL="0">
              <a:buNone/>
            </a:pPr>
            <a:r>
              <a:rPr lang="en-US" sz="10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github.com/[your-username]/SpaceX-Capstone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Notebooks: </a:t>
            </a:r>
            <a:pPr indent="0" marL="0">
              <a:buNone/>
            </a:pPr>
            <a:r>
              <a:rPr lang="en-US" sz="9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data-collection-api  •  webscraping  •  eda-sql  •  eda-visualization  •  folium  •  dash-app  •  ml-classification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Data Science Professional Certificate  —  Applied Data Science Capstone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SpaceX Falcon 9 Launch Success Prediction</dc:title>
  <dc:subject>PptxGenJS Presentation</dc:subject>
  <dc:creator>PptxGenJS</dc:creator>
  <cp:lastModifiedBy>PptxGenJS</cp:lastModifiedBy>
  <cp:revision>1</cp:revision>
  <dcterms:created xsi:type="dcterms:W3CDTF">2026-05-08T04:30:13Z</dcterms:created>
  <dcterms:modified xsi:type="dcterms:W3CDTF">2026-05-08T04:30:13Z</dcterms:modified>
</cp:coreProperties>
</file>